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Pacientes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083-4A35-9672-5AAB05F1C016}"/>
              </c:ext>
            </c:extLst>
          </c:dPt>
          <c:dPt>
            <c:idx val="1"/>
            <c:invertIfNegative val="0"/>
            <c:bubble3D val="0"/>
            <c:spPr>
              <a:solidFill>
                <a:srgbClr val="99001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083-4A35-9672-5AAB05F1C01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241B1C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Sem doença cardíaca</c:v>
                </c:pt>
                <c:pt idx="1">
                  <c:v>Com doença cardíaca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083-4A35-9672-5AAB05F1C01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1B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Nº de pacientes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B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Correlação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D03-4877-8867-1BA97A2CBED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D03-4877-8867-1BA97A2CBED8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D03-4877-8867-1BA97A2CBED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D03-4877-8867-1BA97A2CBED8}"/>
              </c:ext>
            </c:extLst>
          </c:dPt>
          <c:dPt>
            <c:idx val="4"/>
            <c:invertIfNegative val="0"/>
            <c:bubble3D val="0"/>
            <c:spPr>
              <a:solidFill>
                <a:srgbClr val="2F3C7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D03-4877-8867-1BA97A2CBED8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ED03-4877-8867-1BA97A2CBED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ED03-4877-8867-1BA97A2CBED8}"/>
              </c:ext>
            </c:extLst>
          </c:dPt>
          <c:dPt>
            <c:idx val="7"/>
            <c:invertIfNegative val="0"/>
            <c:bubble3D val="0"/>
            <c:spPr>
              <a:solidFill>
                <a:srgbClr val="2F3C7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D03-4877-8867-1BA97A2CBED8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ED03-4877-8867-1BA97A2CBED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ED03-4877-8867-1BA97A2CBED8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ED03-4877-8867-1BA97A2CBED8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ED03-4877-8867-1BA97A2CBED8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ED03-4877-8867-1BA97A2CBED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41B1C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Sheet1!$A$2:$A$14</c:f>
              <c:strCache>
                <c:ptCount val="13"/>
                <c:pt idx="0">
                  <c:v>fbs</c:v>
                </c:pt>
                <c:pt idx="1">
                  <c:v>chol</c:v>
                </c:pt>
                <c:pt idx="2">
                  <c:v>trestbps</c:v>
                </c:pt>
                <c:pt idx="3">
                  <c:v>restecg</c:v>
                </c:pt>
                <c:pt idx="4">
                  <c:v>age</c:v>
                </c:pt>
                <c:pt idx="5">
                  <c:v>sex</c:v>
                </c:pt>
                <c:pt idx="6">
                  <c:v>slope</c:v>
                </c:pt>
                <c:pt idx="7">
                  <c:v>thalach</c:v>
                </c:pt>
                <c:pt idx="8">
                  <c:v>oldpeak</c:v>
                </c:pt>
                <c:pt idx="9">
                  <c:v>exang</c:v>
                </c:pt>
                <c:pt idx="10">
                  <c:v>cp</c:v>
                </c:pt>
                <c:pt idx="11">
                  <c:v>ca</c:v>
                </c:pt>
                <c:pt idx="12">
                  <c:v>thal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0.02</c:v>
                </c:pt>
                <c:pt idx="1">
                  <c:v>0.12</c:v>
                </c:pt>
                <c:pt idx="2">
                  <c:v>0.16</c:v>
                </c:pt>
                <c:pt idx="3">
                  <c:v>0.18</c:v>
                </c:pt>
                <c:pt idx="4">
                  <c:v>-0.21</c:v>
                </c:pt>
                <c:pt idx="5">
                  <c:v>0.3</c:v>
                </c:pt>
                <c:pt idx="6">
                  <c:v>0.34</c:v>
                </c:pt>
                <c:pt idx="7">
                  <c:v>-0.42</c:v>
                </c:pt>
                <c:pt idx="8">
                  <c:v>0.42</c:v>
                </c:pt>
                <c:pt idx="9">
                  <c:v>0.42</c:v>
                </c:pt>
                <c:pt idx="10">
                  <c:v>0.42</c:v>
                </c:pt>
                <c:pt idx="11">
                  <c:v>0.46</c:v>
                </c:pt>
                <c:pt idx="12">
                  <c:v>0.52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A-ED03-4877-8867-1BA97A2CBE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41B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-0.6"/>
        </c:scaling>
        <c:delete val="0"/>
        <c:axPos val="b"/>
        <c:majorGridlines>
          <c:spPr>
            <a:ln w="9525" cap="flat">
              <a:solidFill>
                <a:srgbClr val="EA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Correlação com target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B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668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00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789920" y="4206240"/>
            <a:ext cx="2926080" cy="292608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DE DATA SCIENCE — PORTFÓLIO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Previsão de Doença Cardíaca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Machine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clínicos e construção de um modelo de classificação para apoiar o diagnóstico de doenças cardíacas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Statlog Heart Disease  •  270 pacientes  •  13 variáveis clínicas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e a Base de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Prever a presença de doença cardíaca a partir de variáveis clínicas e demográficas coletadas em exames de rotina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37560" y="2651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clínicas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126480" y="19659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26480" y="2651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nulos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8288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8915400" y="19659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915400" y="26517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variáveis do dataset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069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/ sex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e sexo do paciente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4114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943600" y="4114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4069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dor no peito (4 categorias)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81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48640" y="4681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46360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trestbps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arterial em repouso (mmHg)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943600" y="4681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943600" y="4681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55080" y="46360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Colesterol sérico (mg/dl)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248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548640" y="5248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0120" y="520293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thalach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cardíaca máxima atingida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43600" y="5248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943600" y="5248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520293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—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de doença cardíaca (variável-alvo)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dos Pacientes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idade e sexo na amostra</a:t>
            </a:r>
            <a:endParaRPr lang="en-US" sz="1400" dirty="0"/>
          </a:p>
        </p:txBody>
      </p:sp>
      <p:pic>
        <p:nvPicPr>
          <p:cNvPr id="4" name="Image 0" descr="heart_imgs/cell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04088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18120" y="1600200"/>
            <a:ext cx="1828800" cy="1600200"/>
          </a:xfrm>
          <a:prstGeom prst="roundRect">
            <a:avLst>
              <a:gd name="adj" fmla="val 4571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909560" y="173736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54,4 anos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909560" y="25603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média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784080" y="1600200"/>
            <a:ext cx="1828800" cy="1600200"/>
          </a:xfrm>
          <a:prstGeom prst="roundRect">
            <a:avLst>
              <a:gd name="adj" fmla="val 4571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9875520" y="173736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– 77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9875520" y="25603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 (min–max)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818120" y="3383280"/>
            <a:ext cx="1828800" cy="1600200"/>
          </a:xfrm>
          <a:prstGeom prst="roundRect">
            <a:avLst>
              <a:gd name="adj" fmla="val 4571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909560" y="35204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67,8%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909560" y="43434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do sexo masculino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784080" y="3383280"/>
            <a:ext cx="1828800" cy="1600200"/>
          </a:xfrm>
          <a:prstGeom prst="roundRect">
            <a:avLst>
              <a:gd name="adj" fmla="val 4571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875520" y="35204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32,2%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9875520" y="43434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do sexo feminino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10744200" cy="960120"/>
          </a:xfrm>
          <a:prstGeom prst="roundRect">
            <a:avLst>
              <a:gd name="adj" fmla="val 7619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822960" y="544068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amostra concentra-se entre 45 e 65 anos, com leve assimetria à esquerda — coerente com o perfil de risco cardiovascular, que cresce com a idade.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Dor no Peito e Doença Cardíaca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entre o tipo de dor torácica (cp) relatado e o diagnóstico</a:t>
            </a:r>
            <a:endParaRPr lang="en-US" sz="1400" dirty="0"/>
          </a:p>
        </p:txBody>
      </p:sp>
      <p:pic>
        <p:nvPicPr>
          <p:cNvPr id="4" name="Image 0" descr="heart_imgs/cell17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600200"/>
            <a:ext cx="694944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73736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8458200" y="1874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 contraintuitivo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58200" y="224028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classificados como "assintomáticos" foram os que MAIS apresentaram doença cardíaca — não os que relataram dor típica de angina.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29600" y="402336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8458200" y="4160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com o alvo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tem correlação de +0,42 com a presença de doença — uma das mais fortes do dataset, reforçando seu valor preditivo.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Pressão Arterial e Colesterol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Distribuições e tratamento de outliers (método IQR)</a:t>
            </a:r>
            <a:endParaRPr lang="en-US" sz="1400" dirty="0"/>
          </a:p>
        </p:txBody>
      </p:sp>
      <p:pic>
        <p:nvPicPr>
          <p:cNvPr id="4" name="Image 0" descr="heart_imgs/cell20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394960" cy="3200400"/>
          </a:xfrm>
          <a:prstGeom prst="rect">
            <a:avLst/>
          </a:prstGeom>
        </p:spPr>
      </p:pic>
      <p:pic>
        <p:nvPicPr>
          <p:cNvPr id="5" name="Image 1" descr="heart_imgs/cell26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45920"/>
            <a:ext cx="512064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arterial em repouso (trestbps)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172200" y="4846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Colesterol (chol) — após remoção de outliers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548640" y="525780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685800" y="5330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131,3 mmHg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685800" y="57607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arterial média (94–200)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51960" y="525780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8"/>
          <p:cNvSpPr/>
          <p:nvPr/>
        </p:nvSpPr>
        <p:spPr>
          <a:xfrm>
            <a:off x="4389120" y="5330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249,7 mg/dl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389120" y="57607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Colesterol médio, desvio de 51,7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955280" y="525780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1"/>
          <p:cNvSpPr/>
          <p:nvPr/>
        </p:nvSpPr>
        <p:spPr>
          <a:xfrm>
            <a:off x="8092440" y="5330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564 mg/dl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8092440" y="57607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extremo de colesterol identificado e removido via IQR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Idade x Frequência Cardíaca Máxima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entre thalach (frequência cardíaca máxima) e idade, por diagnóstico</a:t>
            </a:r>
            <a:endParaRPr lang="en-US" sz="1400" dirty="0"/>
          </a:p>
        </p:txBody>
      </p:sp>
      <p:pic>
        <p:nvPicPr>
          <p:cNvPr id="4" name="Image 0" descr="heart_imgs/cell29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630936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737360"/>
            <a:ext cx="3703320" cy="2103120"/>
          </a:xfrm>
          <a:prstGeom prst="roundRect">
            <a:avLst>
              <a:gd name="adj" fmla="val 3478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8183880" y="18745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−0,42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183880" y="251460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entre thalach e a presença de doença cardíaca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955280" y="4023360"/>
            <a:ext cx="3703320" cy="2377440"/>
          </a:xfrm>
          <a:prstGeom prst="roundRect">
            <a:avLst>
              <a:gd name="adj" fmla="val 307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8183880" y="4160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clínica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183880" y="452628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 a frequência cardíaca máxima atingida em esforço, maior a associação com a presença de doença — e ela naturalmente diminui com a idade.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da Variável-Alvo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Balanceamento entre pacientes com e sem doença cardíaca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31520" y="169164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2011680"/>
            <a:ext cx="4572000" cy="1188720"/>
          </a:xfrm>
          <a:prstGeom prst="roundRect">
            <a:avLst>
              <a:gd name="adj" fmla="val 6154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269480" y="214884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(55,6%)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26948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doença cardíaca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040880" y="3474720"/>
            <a:ext cx="4572000" cy="1188720"/>
          </a:xfrm>
          <a:prstGeom prst="roundRect">
            <a:avLst>
              <a:gd name="adj" fmla="val 6154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269480" y="36118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(44,4%)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69480" y="4206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doença cardíaca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40880" y="493776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269480" y="50749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relativamente balanceadas (55,6% / 44,4%) — cenário favorável para treinar um classificador sem técnicas extras de balanceamento.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se Relaciona com a Doença?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cada variável clínica com a presença de doença cardíaca (target)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54480"/>
          <a:ext cx="11247120" cy="4709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Modelo: Regressão Logística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binária — 80% treino / 20% teste, dados padronizados (StandardScaler)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017520" cy="2103120"/>
          </a:xfrm>
          <a:prstGeom prst="roundRect">
            <a:avLst>
              <a:gd name="adj" fmla="val 3478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92,6%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no conjunto de teste (54 pacientes)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86200" y="1737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Confusão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86200" y="2103120"/>
          <a:ext cx="3840480" cy="15544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001000" y="1737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Relatório de Classificação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2103120"/>
          <a:ext cx="36576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C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C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C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CF6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doença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doença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 ponderada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41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A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160520"/>
            <a:ext cx="11109960" cy="1737360"/>
          </a:xfrm>
          <a:prstGeom prst="roundRect">
            <a:avLst>
              <a:gd name="adj" fmla="val 4211"/>
            </a:avLst>
          </a:prstGeom>
          <a:solidFill>
            <a:srgbClr val="FBF1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8"/>
          <p:cNvSpPr/>
          <p:nvPr/>
        </p:nvSpPr>
        <p:spPr>
          <a:xfrm>
            <a:off x="822960" y="4297680"/>
            <a:ext cx="10561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interpretar: </a:t>
            </a:r>
            <a:r>
              <a:rPr lang="en-US" sz="1250" dirty="0">
                <a:solidFill>
                  <a:srgbClr val="241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erra mais em falsos negativos (3 pacientes doentes classificados como saudáveis) do que em falsos positivos (1 caso) — um ponto de atenção importante em contexto clínico, onde deixar de identificar um paciente doente costuma ser mais custoso do que um alarme falso. Vale notar também que o conjunto de teste tem apenas 54 pacientes, então essa métrica isolada deve ser lida com cautela (mais sobre isso a seguir).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Doença Cardíaca — Projeto de Data Science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C00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754880" cy="475488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Aprendizados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F2C6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completa: análise de distribuição, outliers (IQR) e correlações em um dataset clínico real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365760" cy="365760"/>
          </a:xfrm>
          <a:prstGeom prst="ellipse">
            <a:avLst/>
          </a:prstGeom>
          <a:solidFill>
            <a:srgbClr val="F2C6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65176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clínicas (thal, ca, cp) mostraram maior relação com a doença do que fatores como colesterol isolado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365760" cy="365760"/>
          </a:xfrm>
          <a:prstGeom prst="ellipse">
            <a:avLst/>
          </a:prstGeom>
          <a:solidFill>
            <a:srgbClr val="F2C6C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611880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Regressão Logística atingiu 92,6% de acurácia — bom baseline para evoluir com validação mais robusta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9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788</Words>
  <Application>Microsoft Office PowerPoint</Application>
  <PresentationFormat>Widescreen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Ronald Brasil</cp:lastModifiedBy>
  <cp:revision>2</cp:revision>
  <dcterms:created xsi:type="dcterms:W3CDTF">2026-09-03T21:05:19Z</dcterms:created>
  <dcterms:modified xsi:type="dcterms:W3CDTF">2026-09-15T17:51:21Z</dcterms:modified>
</cp:coreProperties>
</file>