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Pacientes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41B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Sem doença cardíaca</c:v>
                  </c:pt>
                  <c:pt idx="1">
                    <c:v>Com doença cardíaca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</c:v>
                </c:pt>
                <c:pt idx="1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41B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1B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Nº de pacientes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B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990011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fbs</c:v>
                  </c:pt>
                  <c:pt idx="1">
                    <c:v>chol</c:v>
                  </c:pt>
                  <c:pt idx="2">
                    <c:v>trestbps</c:v>
                  </c:pt>
                  <c:pt idx="3">
                    <c:v>restecg</c:v>
                  </c:pt>
                  <c:pt idx="4">
                    <c:v>age</c:v>
                  </c:pt>
                  <c:pt idx="5">
                    <c:v>sex</c:v>
                  </c:pt>
                  <c:pt idx="6">
                    <c:v>slope</c:v>
                  </c:pt>
                  <c:pt idx="7">
                    <c:v>thalach</c:v>
                  </c:pt>
                  <c:pt idx="8">
                    <c:v>oldpeak</c:v>
                  </c:pt>
                  <c:pt idx="9">
                    <c:v>exang</c:v>
                  </c:pt>
                  <c:pt idx="10">
                    <c:v>cp</c:v>
                  </c:pt>
                  <c:pt idx="11">
                    <c:v>ca</c:v>
                  </c:pt>
                  <c:pt idx="12">
                    <c:v>thal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0.02</c:v>
                </c:pt>
                <c:pt idx="1">
                  <c:v>0.12</c:v>
                </c:pt>
                <c:pt idx="2">
                  <c:v>0.16</c:v>
                </c:pt>
                <c:pt idx="3">
                  <c:v>0.18</c:v>
                </c:pt>
                <c:pt idx="4">
                  <c:v>-0.21</c:v>
                </c:pt>
                <c:pt idx="5">
                  <c:v>0.3</c:v>
                </c:pt>
                <c:pt idx="6">
                  <c:v>0.34</c:v>
                </c:pt>
                <c:pt idx="7">
                  <c:v>-0.42</c:v>
                </c:pt>
                <c:pt idx="8">
                  <c:v>0.42</c:v>
                </c:pt>
                <c:pt idx="9">
                  <c:v>0.42</c:v>
                </c:pt>
                <c:pt idx="10">
                  <c:v>0.42</c:v>
                </c:pt>
                <c:pt idx="11">
                  <c:v>0.46</c:v>
                </c:pt>
                <c:pt idx="12">
                  <c:v>0.52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1B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41B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6"/>
        </c:scaling>
        <c:delete val="0"/>
        <c:axPos val="b"/>
        <c:majorGridlines>
          <c:spPr>
            <a:ln w="9525" cap="flat">
              <a:solidFill>
                <a:srgbClr val="EA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Correlação com target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DATA SCIENCE — PORTFÓLIO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Previsão de Doença Cardíaca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de dados clínicos e construção de um modelo de classificação para apoiar o diagnóstico de doenças cardíacas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Statlog Heart Disease  •  270 pacientes  •  13 variáveis clínicas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 a Base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presença de doença cardíaca a partir de variáveis clínicas e demográficas coletadas em exames de rotina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BF1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BF1F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clínicas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BF1F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BF1F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154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variáveis do dataset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sex — </a:t>
            </a:r>
            <a:pPr indent="0" marL="0">
              <a:buNone/>
            </a:pP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e sexo do paciente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11480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069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— </a:t>
            </a:r>
            <a:pPr indent="0" marL="0">
              <a:buNone/>
            </a:pP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dor no peito (4 categorias)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681728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681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6360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 — </a:t>
            </a:r>
            <a:pPr indent="0" marL="0">
              <a:buNone/>
            </a:pP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 em repouso (mmHg)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0" y="4681728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4681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46360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 — </a:t>
            </a:r>
            <a:pPr indent="0" marL="0">
              <a:buNone/>
            </a:pP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 sérico (mg/dl)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48656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248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520293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— </a:t>
            </a:r>
            <a:pPr indent="0" marL="0">
              <a:buNone/>
            </a:pP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cardíaca máxima atingida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0" y="5248656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5248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520293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</a:t>
            </a:r>
            <a:pPr indent="0" marL="0">
              <a:buNone/>
            </a:pP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de doença cardíaca (variável-alvo)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dos Pacientes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idade e sexo na amostra</a:t>
            </a:r>
            <a:endParaRPr lang="en-US" sz="1400" dirty="0"/>
          </a:p>
        </p:txBody>
      </p:sp>
      <p:pic>
        <p:nvPicPr>
          <p:cNvPr id="4" name="Image 0" descr="heart_imgs/cell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04088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6002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BF1F0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737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54,4 anos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90956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média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784080" y="16002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BF1F0"/>
          </a:solidFill>
          <a:ln/>
        </p:spPr>
      </p:sp>
      <p:sp>
        <p:nvSpPr>
          <p:cNvPr id="9" name="Text 6"/>
          <p:cNvSpPr/>
          <p:nvPr/>
        </p:nvSpPr>
        <p:spPr>
          <a:xfrm>
            <a:off x="9875520" y="1737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– 77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8755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etária (min–max)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338328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BF1F0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3520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67,8%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909560" y="4343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do sexo masculino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784080" y="338328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BF1F0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0" y="3520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32,2%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875520" y="4343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do sexo feminino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349240"/>
            <a:ext cx="10744200" cy="960120"/>
          </a:xfrm>
          <a:prstGeom prst="roundRect">
            <a:avLst>
              <a:gd name="adj" fmla="val 7619"/>
            </a:avLst>
          </a:prstGeom>
          <a:solidFill>
            <a:srgbClr val="FBF1F0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4406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indent="0" marL="0">
              <a:buNone/>
            </a:pP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amostra concentra-se entre 45 e 65 anos, com leve assimetria à esquerda — coerente com o perfil de risco cardiovascular, que cresce com a idade.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Dor no Peito e Doença Cardíaca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entre o tipo de dor torácica (cp) relatado e o diagnóstico</a:t>
            </a:r>
            <a:endParaRPr lang="en-US" sz="1400" dirty="0"/>
          </a:p>
        </p:txBody>
      </p:sp>
      <p:pic>
        <p:nvPicPr>
          <p:cNvPr id="4" name="Image 0" descr="heart_imgs/cell17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69494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737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990011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1874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contraintuitivo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22402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classificados como "assintomáticos" foram os que MAIS apresentaram doença cardíaca — não os que relataram dor típica de angina.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4023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BF1F0"/>
          </a:solidFill>
          <a:ln/>
        </p:spPr>
      </p:sp>
      <p:sp>
        <p:nvSpPr>
          <p:cNvPr id="9" name="Text 6"/>
          <p:cNvSpPr/>
          <p:nvPr/>
        </p:nvSpPr>
        <p:spPr>
          <a:xfrm>
            <a:off x="8458200" y="41605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com o alvo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0" y="45262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tem correlação de +0,42 com a presença de doença — uma das mais fortes do dataset, reforçando seu valor preditivo.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Pressão Arterial e Colesterol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 e tratamento de outliers (método IQR)</a:t>
            </a:r>
            <a:endParaRPr lang="en-US" sz="1400" dirty="0"/>
          </a:p>
        </p:txBody>
      </p:sp>
      <p:pic>
        <p:nvPicPr>
          <p:cNvPr id="4" name="Image 0" descr="heart_imgs/cell20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394960" cy="3200400"/>
          </a:xfrm>
          <a:prstGeom prst="rect">
            <a:avLst/>
          </a:prstGeom>
        </p:spPr>
      </p:pic>
      <p:pic>
        <p:nvPicPr>
          <p:cNvPr id="5" name="Image 1" descr="heart_imgs/cell26_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12064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 em repouso (trestbps)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172200" y="4846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 (chol) — após remoção de outliers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48640" y="52578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BF1F0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5330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131,3 mmHg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85800" y="5760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arterial média (94–200)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51960" y="52578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BF1F0"/>
          </a:solidFill>
          <a:ln/>
        </p:spPr>
      </p:sp>
      <p:sp>
        <p:nvSpPr>
          <p:cNvPr id="12" name="Text 8"/>
          <p:cNvSpPr/>
          <p:nvPr/>
        </p:nvSpPr>
        <p:spPr>
          <a:xfrm>
            <a:off x="4389120" y="5330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249,7 mg/dl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89120" y="5760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 médio, desvio de 51,7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525780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BF1F0"/>
          </a:solidFill>
          <a:ln/>
        </p:spPr>
      </p:sp>
      <p:sp>
        <p:nvSpPr>
          <p:cNvPr id="15" name="Text 11"/>
          <p:cNvSpPr/>
          <p:nvPr/>
        </p:nvSpPr>
        <p:spPr>
          <a:xfrm>
            <a:off x="8092440" y="53309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564 mg/dl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092440" y="5760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extremo de colesterol identificado e removido via IQR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Idade x Frequência Cardíaca Máxima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entre thalach (frequência cardíaca máxima) e idade, por diagnóstico</a:t>
            </a:r>
            <a:endParaRPr lang="en-US" sz="1400" dirty="0"/>
          </a:p>
        </p:txBody>
      </p:sp>
      <p:pic>
        <p:nvPicPr>
          <p:cNvPr id="4" name="Image 0" descr="heart_imgs/cell29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00200"/>
            <a:ext cx="630936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73736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BF1F0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−0,42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183880" y="25146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entre thalach e a presença de doença cardíaca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55280" y="402336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818388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clínica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452628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menor a frequência cardíaca máxima atingida em esforço, maior a associação com a presença de doença — e ela naturalmente diminui com a idade.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da Variável-Alvo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Balanceamento entre pacientes com e sem doença cardíaca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91640"/>
          <a:ext cx="5943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20116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BF1F0"/>
          </a:solidFill>
          <a:ln/>
        </p:spPr>
      </p:sp>
      <p:sp>
        <p:nvSpPr>
          <p:cNvPr id="6" name="Text 3"/>
          <p:cNvSpPr/>
          <p:nvPr/>
        </p:nvSpPr>
        <p:spPr>
          <a:xfrm>
            <a:off x="7269480" y="2148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(55,6%)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26948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doença cardíaca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40880" y="347472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BF1F0"/>
          </a:solidFill>
          <a:ln/>
        </p:spPr>
      </p:sp>
      <p:sp>
        <p:nvSpPr>
          <p:cNvPr id="9" name="Text 6"/>
          <p:cNvSpPr/>
          <p:nvPr/>
        </p:nvSpPr>
        <p:spPr>
          <a:xfrm>
            <a:off x="7269480" y="3611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(44,4%)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26948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doença cardíaca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40880" y="49377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7269480" y="50749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relativamente balanceadas (55,6% / 44,4%) — cenário favorável para treinar um classificador sem técnicas extras de balanceamento.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se Relaciona com a Doença?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cada variável clínica com a presença de doença cardíaca (target)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112471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Modelo: Regressão Logística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binária — 80% treino / 20% teste, dados padronizados (StandardScaler)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92,6%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no conjunto de teste (54 pacientes)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Confusão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2103120"/>
          <a:ext cx="3840480" cy="15544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Previsto: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0010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 Classificação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103120"/>
          <a:ext cx="3657600" cy="173736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731520"/>
                <a:gridCol w="640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C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C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CF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doença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doença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ponderada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41B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160520"/>
            <a:ext cx="11109960" cy="1737360"/>
          </a:xfrm>
          <a:prstGeom prst="roundRect">
            <a:avLst>
              <a:gd name="adj" fmla="val 4211"/>
            </a:avLst>
          </a:prstGeom>
          <a:solidFill>
            <a:srgbClr val="FBF1F0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4297680"/>
            <a:ext cx="10561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interpretar: </a:t>
            </a:r>
            <a:pPr indent="0" marL="0">
              <a:buNone/>
            </a:pPr>
            <a:r>
              <a:rPr lang="en-US" sz="1250" dirty="0">
                <a:solidFill>
                  <a:srgbClr val="241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erra mais em falsos negativos (3 pacientes doentes classificados como saudáveis) do que em falsos positivos (1 caso) — um ponto de atenção importante em contexto clínico, onde deixar de identificar um paciente doente costuma ser mais custoso do que um alarme falso. Vale notar também que o conjunto de teste tem apenas 54 pacientes, então essa métrica isolada deve ser lida com cautela (mais sobre isso a seguir).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e Melhorias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leitura crítica do próprio projeto — pontos que elevariam o rigor da análise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BF1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231343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a divisão única treino/teste (54 amostras) por k-fold cross-validation para métricas mais robustas.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BF1F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mais modelos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20840" y="231343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Random Forest, SVM e Gradient Boosting antes de escolher a Regressão Logística como final.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BF1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além da acurácia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386791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recall e AUC-ROC para a classe "com doença" — falsos negativos são mais críticos em saúde.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337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BF1F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categóricas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20840" y="386791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one-hot encoding em cp, thal, restecg e slope, hoje tratadas como numéricas ordinais.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BF1F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29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029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reprodutível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88720" y="542239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Encapsular pré-processamento e modelo em um sklearn Pipeline, evitando repetição e vazamento de dados.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48920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BF1F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5029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5029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Interpretabilidade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20840" y="542239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SHAP ou coeficientes padronizados para explicar o peso de cada variável na decisão do modelo.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Doença Cardíaca — Projeto de Data Science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Aprendizados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F2C6C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completa: análise de distribuição, outliers (IQR) e correlações em um dataset clínico real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F2C6C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clínicas (thal, ca, cp) mostraram maior relação com a doença do que fatores como colesterol isolado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F2C6C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6118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Regressão Logística atingiu 92,6% de acurácia — bom baseline para evoluir com validação mais robusta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F2C6C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720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crítica do próprio trabalho, com plano claro de melhorias técnicas e metodológicas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2026-09-03T21:05:19Z</dcterms:created>
  <dcterms:modified xsi:type="dcterms:W3CDTF">2026-09-03T21:05:19Z</dcterms:modified>
</cp:coreProperties>
</file>